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2741" y="-2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7378" y="859699"/>
            <a:ext cx="3964304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900" b="1" i="0" spc="217" baseline="12820" dirty="0">
                <a:solidFill>
                  <a:srgbClr val="2462EB"/>
                </a:solidFill>
                <a:latin typeface="Trebuchet MS"/>
                <a:cs typeface="Trebuchet MS"/>
              </a:rPr>
              <a:t>ДИЗ</a:t>
            </a:r>
            <a:r>
              <a:rPr sz="3900" b="1" i="0" spc="-1732" baseline="12820" dirty="0">
                <a:solidFill>
                  <a:srgbClr val="2462EB"/>
                </a:solidFill>
                <a:latin typeface="Trebuchet MS"/>
                <a:cs typeface="Trebuchet MS"/>
              </a:rPr>
              <a:t>А</a:t>
            </a:r>
            <a:r>
              <a:rPr sz="1400" spc="145" dirty="0"/>
              <a:t>Ш</a:t>
            </a:r>
            <a:r>
              <a:rPr sz="1400" spc="-550" dirty="0"/>
              <a:t>а</a:t>
            </a:r>
            <a:r>
              <a:rPr sz="3900" b="1" i="0" spc="-1582" baseline="12820" dirty="0">
                <a:solidFill>
                  <a:srgbClr val="2462EB"/>
                </a:solidFill>
                <a:latin typeface="Trebuchet MS"/>
                <a:cs typeface="Trebuchet MS"/>
              </a:rPr>
              <a:t>Й</a:t>
            </a:r>
            <a:r>
              <a:rPr sz="1400" spc="145" dirty="0"/>
              <a:t>б</a:t>
            </a:r>
            <a:r>
              <a:rPr sz="1400" spc="-195" dirty="0"/>
              <a:t>л</a:t>
            </a:r>
            <a:r>
              <a:rPr sz="3900" b="1" i="0" spc="-2010" baseline="12820" dirty="0">
                <a:solidFill>
                  <a:srgbClr val="2462EB"/>
                </a:solidFill>
                <a:latin typeface="Trebuchet MS"/>
                <a:cs typeface="Trebuchet MS"/>
              </a:rPr>
              <a:t>Н</a:t>
            </a:r>
            <a:r>
              <a:rPr sz="1400" spc="145" dirty="0"/>
              <a:t>о</a:t>
            </a:r>
            <a:r>
              <a:rPr sz="1400" spc="180" dirty="0"/>
              <a:t>н</a:t>
            </a:r>
            <a:r>
              <a:rPr sz="3900" b="1" i="0" spc="-675" baseline="12820" dirty="0">
                <a:solidFill>
                  <a:srgbClr val="2462EB"/>
                </a:solidFill>
                <a:latin typeface="Trebuchet MS"/>
                <a:cs typeface="Trebuchet MS"/>
              </a:rPr>
              <a:t>-</a:t>
            </a:r>
            <a:r>
              <a:rPr sz="1400" spc="-145" dirty="0"/>
              <a:t>п</a:t>
            </a:r>
            <a:r>
              <a:rPr sz="3900" b="1" i="0" spc="-2467" baseline="12820" dirty="0">
                <a:solidFill>
                  <a:srgbClr val="2462EB"/>
                </a:solidFill>
                <a:latin typeface="Trebuchet MS"/>
                <a:cs typeface="Trebuchet MS"/>
              </a:rPr>
              <a:t>Д</a:t>
            </a:r>
            <a:r>
              <a:rPr sz="1400" spc="70" dirty="0"/>
              <a:t>ро</a:t>
            </a:r>
            <a:r>
              <a:rPr sz="1400" spc="-305" dirty="0"/>
              <a:t>є</a:t>
            </a:r>
            <a:r>
              <a:rPr sz="3900" b="1" i="0" spc="-2092" baseline="12820" dirty="0">
                <a:solidFill>
                  <a:srgbClr val="2462EB"/>
                </a:solidFill>
                <a:latin typeface="Trebuchet MS"/>
                <a:cs typeface="Trebuchet MS"/>
              </a:rPr>
              <a:t>О</a:t>
            </a:r>
            <a:r>
              <a:rPr sz="1400" spc="70" dirty="0"/>
              <a:t>кт</a:t>
            </a:r>
            <a:r>
              <a:rPr sz="1400" spc="-555" dirty="0"/>
              <a:t>у</a:t>
            </a:r>
            <a:r>
              <a:rPr sz="3900" b="1" i="0" spc="-1035" baseline="12820" dirty="0">
                <a:solidFill>
                  <a:srgbClr val="2462EB"/>
                </a:solidFill>
                <a:latin typeface="Trebuchet MS"/>
                <a:cs typeface="Trebuchet MS"/>
              </a:rPr>
              <a:t>К</a:t>
            </a:r>
            <a:r>
              <a:rPr sz="1400" spc="70" dirty="0"/>
              <a:t>K</a:t>
            </a:r>
            <a:r>
              <a:rPr sz="1400" spc="-650" dirty="0"/>
              <a:t>o</a:t>
            </a:r>
            <a:r>
              <a:rPr sz="3900" b="1" i="0" spc="-1335" baseline="12820" dirty="0">
                <a:solidFill>
                  <a:srgbClr val="2462EB"/>
                </a:solidFill>
                <a:latin typeface="Trebuchet MS"/>
                <a:cs typeface="Trebuchet MS"/>
              </a:rPr>
              <a:t>У</a:t>
            </a:r>
            <a:r>
              <a:rPr sz="1400" spc="70" dirty="0"/>
              <a:t>d</a:t>
            </a:r>
            <a:r>
              <a:rPr sz="1400" spc="-450" dirty="0"/>
              <a:t>u</a:t>
            </a:r>
            <a:r>
              <a:rPr sz="3900" b="1" i="0" spc="-1732" baseline="12820" dirty="0">
                <a:solidFill>
                  <a:srgbClr val="2462EB"/>
                </a:solidFill>
                <a:latin typeface="Trebuchet MS"/>
                <a:cs typeface="Trebuchet MS"/>
              </a:rPr>
              <a:t>М</a:t>
            </a:r>
            <a:r>
              <a:rPr sz="1400" spc="70" dirty="0"/>
              <a:t>G</a:t>
            </a:r>
            <a:r>
              <a:rPr sz="1400" spc="-270" dirty="0"/>
              <a:t>a</a:t>
            </a:r>
            <a:r>
              <a:rPr sz="3900" b="1" i="0" spc="-1664" baseline="12820" dirty="0">
                <a:solidFill>
                  <a:srgbClr val="2462EB"/>
                </a:solidFill>
                <a:latin typeface="Trebuchet MS"/>
                <a:cs typeface="Trebuchet MS"/>
              </a:rPr>
              <a:t>Е</a:t>
            </a:r>
            <a:r>
              <a:rPr sz="1400" spc="70" dirty="0"/>
              <a:t>m</a:t>
            </a:r>
            <a:r>
              <a:rPr sz="1400" spc="-670" dirty="0"/>
              <a:t>e</a:t>
            </a:r>
            <a:r>
              <a:rPr sz="3900" b="1" i="0" spc="-997" baseline="12820" dirty="0">
                <a:solidFill>
                  <a:srgbClr val="2462EB"/>
                </a:solidFill>
                <a:latin typeface="Trebuchet MS"/>
                <a:cs typeface="Trebuchet MS"/>
              </a:rPr>
              <a:t>Н</a:t>
            </a:r>
            <a:r>
              <a:rPr sz="1400" spc="70" dirty="0"/>
              <a:t>L</a:t>
            </a:r>
            <a:r>
              <a:rPr sz="1400" spc="-580" dirty="0"/>
              <a:t>a</a:t>
            </a:r>
            <a:r>
              <a:rPr sz="3900" b="1" i="0" spc="-1372" baseline="12820" dirty="0">
                <a:solidFill>
                  <a:srgbClr val="2462EB"/>
                </a:solidFill>
                <a:latin typeface="Trebuchet MS"/>
                <a:cs typeface="Trebuchet MS"/>
              </a:rPr>
              <a:t>Т</a:t>
            </a:r>
            <a:r>
              <a:rPr sz="1400" spc="70" dirty="0"/>
              <a:t>b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3060" y="783499"/>
            <a:ext cx="7543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290" dirty="0">
                <a:solidFill>
                  <a:srgbClr val="2462EB"/>
                </a:solidFill>
                <a:latin typeface="Trebuchet MS"/>
                <a:cs typeface="Trebuchet MS"/>
              </a:rPr>
              <a:t>ГРИ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6199" y="1456599"/>
            <a:ext cx="5967730" cy="0"/>
          </a:xfrm>
          <a:custGeom>
            <a:avLst/>
            <a:gdLst/>
            <a:ahLst/>
            <a:cxnLst/>
            <a:rect l="l" t="t" r="r" b="b"/>
            <a:pathLst>
              <a:path w="5967730">
                <a:moveTo>
                  <a:pt x="0" y="0"/>
                </a:moveTo>
                <a:lnTo>
                  <a:pt x="5967600" y="0"/>
                </a:lnTo>
              </a:path>
            </a:pathLst>
          </a:custGeom>
          <a:ln w="25400">
            <a:solidFill>
              <a:srgbClr val="246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070000" y="1939199"/>
            <a:ext cx="4680585" cy="914400"/>
            <a:chOff x="2070000" y="1939199"/>
            <a:chExt cx="4680585" cy="914400"/>
          </a:xfrm>
        </p:grpSpPr>
        <p:sp>
          <p:nvSpPr>
            <p:cNvPr id="6" name="object 6"/>
            <p:cNvSpPr/>
            <p:nvPr/>
          </p:nvSpPr>
          <p:spPr>
            <a:xfrm>
              <a:off x="2070000" y="19391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The World</a:t>
              </a:r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2146200" y="2167926"/>
              <a:ext cx="3175000" cy="0"/>
            </a:xfrm>
            <a:custGeom>
              <a:avLst/>
              <a:gdLst/>
              <a:ahLst/>
              <a:cxnLst/>
              <a:rect l="l" t="t" r="r" b="b"/>
              <a:pathLst>
                <a:path w="3175000">
                  <a:moveTo>
                    <a:pt x="0" y="0"/>
                  </a:moveTo>
                  <a:lnTo>
                    <a:pt x="31750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70000" y="22439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Nikita </a:t>
              </a:r>
              <a:r>
                <a:rPr lang="en-US" dirty="0" err="1" smtClean="0"/>
                <a:t>Kolomiec</a:t>
              </a:r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2146200" y="2472726"/>
              <a:ext cx="3175000" cy="0"/>
            </a:xfrm>
            <a:custGeom>
              <a:avLst/>
              <a:gdLst/>
              <a:ahLst/>
              <a:cxnLst/>
              <a:rect l="l" t="t" r="r" b="b"/>
              <a:pathLst>
                <a:path w="3175000">
                  <a:moveTo>
                    <a:pt x="0" y="0"/>
                  </a:moveTo>
                  <a:lnTo>
                    <a:pt x="31750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70000" y="25487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23.01.2026</a:t>
              </a:r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146200" y="2777526"/>
              <a:ext cx="1587500" cy="0"/>
            </a:xfrm>
            <a:custGeom>
              <a:avLst/>
              <a:gdLst/>
              <a:ahLst/>
              <a:cxnLst/>
              <a:rect l="l" t="t" r="r" b="b"/>
              <a:pathLst>
                <a:path w="1587500">
                  <a:moveTo>
                    <a:pt x="0" y="0"/>
                  </a:moveTo>
                  <a:lnTo>
                    <a:pt x="15875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3499" y="1697899"/>
            <a:ext cx="3147151" cy="1395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1.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10" dirty="0">
                <a:solidFill>
                  <a:srgbClr val="2462EB"/>
                </a:solidFill>
                <a:latin typeface="Trebuchet MS"/>
                <a:cs typeface="Trebuchet MS"/>
              </a:rPr>
              <a:t>ІНФОРМАЦІЯ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04" dirty="0">
                <a:solidFill>
                  <a:srgbClr val="2462EB"/>
                </a:solidFill>
                <a:latin typeface="Trebuchet MS"/>
                <a:cs typeface="Trebuchet MS"/>
              </a:rPr>
              <a:t>ПРО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70" dirty="0">
                <a:solidFill>
                  <a:srgbClr val="2462EB"/>
                </a:solidFill>
                <a:latin typeface="Trebuchet MS"/>
                <a:cs typeface="Trebuchet MS"/>
              </a:rPr>
              <a:t>ПРОЄКТ</a:t>
            </a:r>
            <a:endParaRPr sz="1400" dirty="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720"/>
              </a:spcBef>
            </a:pPr>
            <a:r>
              <a:rPr sz="1000" b="1" spc="114" dirty="0">
                <a:solidFill>
                  <a:srgbClr val="64748A"/>
                </a:solidFill>
                <a:latin typeface="Trebuchet MS"/>
                <a:cs typeface="Trebuchet MS"/>
              </a:rPr>
              <a:t>Назва</a:t>
            </a:r>
            <a:r>
              <a:rPr sz="1000" b="1" spc="55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000" b="1" spc="60" dirty="0" err="1">
                <a:solidFill>
                  <a:srgbClr val="64748A"/>
                </a:solidFill>
                <a:latin typeface="Trebuchet MS"/>
                <a:cs typeface="Trebuchet MS"/>
              </a:rPr>
              <a:t>гри</a:t>
            </a:r>
            <a:r>
              <a:rPr sz="1000" b="1" spc="60" dirty="0" smtClean="0">
                <a:solidFill>
                  <a:srgbClr val="64748A"/>
                </a:solidFill>
                <a:latin typeface="Trebuchet MS"/>
                <a:cs typeface="Trebuchet MS"/>
              </a:rPr>
              <a:t>:</a:t>
            </a:r>
            <a:r>
              <a:rPr lang="en-US" sz="1000" b="1" spc="60" dirty="0" smtClean="0">
                <a:solidFill>
                  <a:srgbClr val="64748A"/>
                </a:solidFill>
                <a:latin typeface="Trebuchet MS"/>
                <a:cs typeface="Trebuchet MS"/>
              </a:rPr>
              <a:t>        </a:t>
            </a:r>
            <a:endParaRPr sz="1000" dirty="0">
              <a:latin typeface="Trebuchet MS"/>
              <a:cs typeface="Trebuchet MS"/>
            </a:endParaRPr>
          </a:p>
          <a:p>
            <a:pPr marL="102235" marR="2379345">
              <a:lnSpc>
                <a:spcPct val="200000"/>
              </a:lnSpc>
            </a:pPr>
            <a:r>
              <a:rPr sz="1000" b="1" spc="85" dirty="0">
                <a:solidFill>
                  <a:srgbClr val="64748A"/>
                </a:solidFill>
                <a:latin typeface="Trebuchet MS"/>
                <a:cs typeface="Trebuchet MS"/>
              </a:rPr>
              <a:t>Автор: </a:t>
            </a:r>
            <a:r>
              <a:rPr lang="en-US" sz="1000" b="1" spc="85" dirty="0" smtClean="0">
                <a:solidFill>
                  <a:srgbClr val="64748A"/>
                </a:solidFill>
                <a:latin typeface="Trebuchet MS"/>
                <a:cs typeface="Trebuchet MS"/>
              </a:rPr>
              <a:t>            </a:t>
            </a:r>
            <a:r>
              <a:rPr sz="1000" b="1" spc="100" dirty="0" err="1" smtClean="0">
                <a:solidFill>
                  <a:srgbClr val="64748A"/>
                </a:solidFill>
                <a:latin typeface="Trebuchet MS"/>
                <a:cs typeface="Trebuchet MS"/>
              </a:rPr>
              <a:t>Дата</a:t>
            </a:r>
            <a:r>
              <a:rPr sz="1000" b="1" spc="100" dirty="0">
                <a:solidFill>
                  <a:srgbClr val="64748A"/>
                </a:solidFill>
                <a:latin typeface="Trebuchet MS"/>
                <a:cs typeface="Trebuchet MS"/>
              </a:rPr>
              <a:t>: </a:t>
            </a:r>
            <a:r>
              <a:rPr sz="1000" b="1" spc="80" dirty="0">
                <a:solidFill>
                  <a:srgbClr val="64748A"/>
                </a:solidFill>
                <a:latin typeface="Trebuchet MS"/>
                <a:cs typeface="Trebuchet MS"/>
              </a:rPr>
              <a:t>Версія: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70000" y="2853599"/>
            <a:ext cx="4680585" cy="304800"/>
            <a:chOff x="2070000" y="2853599"/>
            <a:chExt cx="4680585" cy="304800"/>
          </a:xfrm>
        </p:grpSpPr>
        <p:sp>
          <p:nvSpPr>
            <p:cNvPr id="14" name="object 14"/>
            <p:cNvSpPr/>
            <p:nvPr/>
          </p:nvSpPr>
          <p:spPr>
            <a:xfrm>
              <a:off x="2070000" y="28535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1.6.18.0</a:t>
              </a:r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6200" y="3082326"/>
              <a:ext cx="1587500" cy="0"/>
            </a:xfrm>
            <a:custGeom>
              <a:avLst/>
              <a:gdLst/>
              <a:ahLst/>
              <a:cxnLst/>
              <a:rect l="l" t="t" r="r" b="b"/>
              <a:pathLst>
                <a:path w="1587500">
                  <a:moveTo>
                    <a:pt x="0" y="0"/>
                  </a:moveTo>
                  <a:lnTo>
                    <a:pt x="15875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3499" y="3290248"/>
            <a:ext cx="2693670" cy="143462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2.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20" dirty="0">
                <a:solidFill>
                  <a:srgbClr val="2462EB"/>
                </a:solidFill>
                <a:latin typeface="Trebuchet MS"/>
                <a:cs typeface="Trebuchet MS"/>
              </a:rPr>
              <a:t>КОНЦЕПЦІЯ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35" dirty="0">
                <a:solidFill>
                  <a:srgbClr val="2462EB"/>
                </a:solidFill>
                <a:latin typeface="Trebuchet MS"/>
                <a:cs typeface="Trebuchet MS"/>
              </a:rPr>
              <a:t>ГРИ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b="1" spc="140" dirty="0">
                <a:solidFill>
                  <a:srgbClr val="1D283B"/>
                </a:solidFill>
                <a:latin typeface="Trebuchet MS"/>
                <a:cs typeface="Trebuchet MS"/>
              </a:rPr>
              <a:t>Жанр: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709930" algn="l"/>
                <a:tab pos="1624330" algn="l"/>
              </a:tabLst>
            </a:pP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sz="1000" spc="4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Екшн</a:t>
            </a:r>
            <a:r>
              <a:rPr sz="1000" dirty="0">
                <a:solidFill>
                  <a:srgbClr val="1D283B"/>
                </a:solidFill>
                <a:latin typeface="Arial"/>
                <a:cs typeface="Arial"/>
              </a:rPr>
              <a:t>	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lang="en-US" sz="1000" spc="110" dirty="0" smtClean="0">
                <a:solidFill>
                  <a:srgbClr val="1D283B"/>
                </a:solidFill>
                <a:latin typeface="Arial"/>
                <a:ea typeface="Segoe UI Emoji" panose="020B0502040204020203" pitchFamily="34" charset="0"/>
                <a:cs typeface="Arial"/>
              </a:rPr>
              <a:t>☑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70" dirty="0" err="1" smtClean="0">
                <a:solidFill>
                  <a:srgbClr val="1D283B"/>
                </a:solidFill>
                <a:latin typeface="Arial"/>
                <a:cs typeface="Arial"/>
              </a:rPr>
              <a:t>Пригоди</a:t>
            </a:r>
            <a:r>
              <a:rPr sz="1000" dirty="0">
                <a:solidFill>
                  <a:srgbClr val="1D283B"/>
                </a:solidFill>
                <a:latin typeface="Arial"/>
                <a:cs typeface="Arial"/>
              </a:rPr>
              <a:t>	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sz="1000" spc="40" dirty="0" smtClean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 smtClean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55" dirty="0" err="1" smtClean="0">
                <a:solidFill>
                  <a:srgbClr val="1D283B"/>
                </a:solidFill>
                <a:latin typeface="Arial"/>
                <a:cs typeface="Arial"/>
              </a:rPr>
              <a:t>Головоломка</a:t>
            </a:r>
            <a:endParaRPr sz="1000" dirty="0">
              <a:latin typeface="Arial"/>
              <a:cs typeface="Arial"/>
            </a:endParaRPr>
          </a:p>
          <a:p>
            <a:pPr marL="12700" marR="29845">
              <a:lnSpc>
                <a:spcPct val="118900"/>
              </a:lnSpc>
              <a:spcBef>
                <a:spcPts val="950"/>
              </a:spcBef>
            </a:pPr>
            <a:r>
              <a:rPr sz="1100" b="1" spc="114" dirty="0">
                <a:solidFill>
                  <a:srgbClr val="1D283B"/>
                </a:solidFill>
                <a:latin typeface="Trebuchet MS"/>
                <a:cs typeface="Trebuchet MS"/>
              </a:rPr>
              <a:t>Головна</a:t>
            </a:r>
            <a:r>
              <a:rPr sz="1100" b="1" spc="6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110" dirty="0">
                <a:solidFill>
                  <a:srgbClr val="1D283B"/>
                </a:solidFill>
                <a:latin typeface="Trebuchet MS"/>
                <a:cs typeface="Trebuchet MS"/>
              </a:rPr>
              <a:t>ідея</a:t>
            </a:r>
            <a:r>
              <a:rPr sz="1100" b="1" spc="6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85" dirty="0">
                <a:solidFill>
                  <a:srgbClr val="1D283B"/>
                </a:solidFill>
                <a:latin typeface="Trebuchet MS"/>
                <a:cs typeface="Trebuchet MS"/>
              </a:rPr>
              <a:t>(1-</a:t>
            </a:r>
            <a:r>
              <a:rPr sz="1100" b="1" spc="114" dirty="0">
                <a:solidFill>
                  <a:srgbClr val="1D283B"/>
                </a:solidFill>
                <a:latin typeface="Trebuchet MS"/>
                <a:cs typeface="Trebuchet MS"/>
              </a:rPr>
              <a:t>2</a:t>
            </a:r>
            <a:r>
              <a:rPr sz="1100" b="1" spc="6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95" dirty="0">
                <a:solidFill>
                  <a:srgbClr val="1D283B"/>
                </a:solidFill>
                <a:latin typeface="Trebuchet MS"/>
                <a:cs typeface="Trebuchet MS"/>
              </a:rPr>
              <a:t>речення): 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Опишіть</a:t>
            </a:r>
            <a:r>
              <a:rPr sz="1000" spc="12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вашу</a:t>
            </a:r>
            <a:r>
              <a:rPr sz="1000" spc="12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ідею</a:t>
            </a:r>
            <a:r>
              <a:rPr sz="1000" spc="12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105" dirty="0">
                <a:solidFill>
                  <a:srgbClr val="1D283B"/>
                </a:solidFill>
                <a:latin typeface="Arial"/>
                <a:cs typeface="Arial"/>
              </a:rPr>
              <a:t>гри</a:t>
            </a:r>
            <a:r>
              <a:rPr sz="1000" spc="12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100" dirty="0">
                <a:solidFill>
                  <a:srgbClr val="1D283B"/>
                </a:solidFill>
                <a:latin typeface="Arial"/>
                <a:cs typeface="Arial"/>
              </a:rPr>
              <a:t>коротко</a:t>
            </a:r>
            <a:r>
              <a:rPr sz="1000" spc="12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та </a:t>
            </a:r>
            <a:r>
              <a:rPr sz="1000" spc="55" dirty="0">
                <a:solidFill>
                  <a:srgbClr val="1D283B"/>
                </a:solidFill>
                <a:latin typeface="Arial"/>
                <a:cs typeface="Arial"/>
              </a:rPr>
              <a:t>гравець?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12846" y="3856899"/>
            <a:ext cx="6032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sz="1000" spc="4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Гонки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51592" y="3856899"/>
            <a:ext cx="93789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sz="1000" spc="4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Симулятор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24953" y="3856899"/>
            <a:ext cx="11480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4745" algn="l"/>
              </a:tabLst>
            </a:pP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Інше: </a:t>
            </a:r>
            <a:r>
              <a:rPr sz="1000" u="sng" dirty="0">
                <a:solidFill>
                  <a:srgbClr val="1D283B"/>
                </a:solidFill>
                <a:uFill>
                  <a:solidFill>
                    <a:srgbClr val="1C273A"/>
                  </a:solidFill>
                </a:uFill>
                <a:latin typeface="Arial"/>
                <a:cs typeface="Arial"/>
              </a:rPr>
              <a:t>	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26914" y="4364899"/>
            <a:ext cx="32499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захоплююче.</a:t>
            </a:r>
            <a:r>
              <a:rPr sz="1000" spc="12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Який</a:t>
            </a:r>
            <a:r>
              <a:rPr sz="1000" spc="12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основний</a:t>
            </a:r>
            <a:r>
              <a:rPr sz="1000" spc="12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досвід</a:t>
            </a:r>
            <a:r>
              <a:rPr sz="1000" spc="12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60" dirty="0">
                <a:solidFill>
                  <a:srgbClr val="1D283B"/>
                </a:solidFill>
                <a:latin typeface="Arial"/>
                <a:cs typeface="Arial"/>
              </a:rPr>
              <a:t>отримає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499" y="5392583"/>
            <a:ext cx="2643505" cy="5981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b="1" spc="100" dirty="0">
                <a:solidFill>
                  <a:srgbClr val="1D283B"/>
                </a:solidFill>
                <a:latin typeface="Trebuchet MS"/>
                <a:cs typeface="Trebuchet MS"/>
              </a:rPr>
              <a:t>Тема</a:t>
            </a:r>
            <a:r>
              <a:rPr sz="1100" b="1" spc="4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D283B"/>
                </a:solidFill>
                <a:latin typeface="Trebuchet MS"/>
                <a:cs typeface="Trebuchet MS"/>
              </a:rPr>
              <a:t>/</a:t>
            </a:r>
            <a:r>
              <a:rPr sz="1100" b="1" spc="4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80" dirty="0">
                <a:solidFill>
                  <a:srgbClr val="1D283B"/>
                </a:solidFill>
                <a:latin typeface="Trebuchet MS"/>
                <a:cs typeface="Trebuchet MS"/>
              </a:rPr>
              <a:t>Сетинг:</a:t>
            </a:r>
            <a:endParaRPr sz="1100" dirty="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Опишіть</a:t>
            </a:r>
            <a:r>
              <a:rPr sz="1000" spc="459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Arial"/>
                <a:cs typeface="Arial"/>
              </a:rPr>
              <a:t>світ,</a:t>
            </a:r>
            <a:r>
              <a:rPr sz="1000" spc="46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де</a:t>
            </a:r>
            <a:r>
              <a:rPr sz="1000" spc="46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відбувається</a:t>
            </a:r>
            <a:r>
              <a:rPr sz="1000" spc="46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45" dirty="0">
                <a:solidFill>
                  <a:srgbClr val="1D283B"/>
                </a:solidFill>
                <a:latin typeface="Arial"/>
                <a:cs typeface="Arial"/>
              </a:rPr>
              <a:t>ваша </a:t>
            </a:r>
            <a:r>
              <a:rPr sz="1000" spc="80" dirty="0">
                <a:solidFill>
                  <a:srgbClr val="1D283B"/>
                </a:solidFill>
                <a:latin typeface="Arial"/>
                <a:cs typeface="Arial"/>
              </a:rPr>
              <a:t>підводний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45" dirty="0">
                <a:solidFill>
                  <a:srgbClr val="1D283B"/>
                </a:solidFill>
                <a:latin typeface="Arial"/>
                <a:cs typeface="Arial"/>
              </a:rPr>
              <a:t>світ).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5595" y="5634899"/>
            <a:ext cx="32810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00" dirty="0">
                <a:solidFill>
                  <a:srgbClr val="1D283B"/>
                </a:solidFill>
                <a:latin typeface="Arial"/>
                <a:cs typeface="Arial"/>
              </a:rPr>
              <a:t>гра</a:t>
            </a:r>
            <a:r>
              <a:rPr sz="1000" spc="114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(напр.,</a:t>
            </a:r>
            <a:r>
              <a:rPr sz="1000" spc="114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фантастичний</a:t>
            </a:r>
            <a:r>
              <a:rPr sz="1000" spc="114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dirty="0">
                <a:solidFill>
                  <a:srgbClr val="1D283B"/>
                </a:solidFill>
                <a:latin typeface="Arial"/>
                <a:cs typeface="Arial"/>
              </a:rPr>
              <a:t>ліс,</a:t>
            </a:r>
            <a:r>
              <a:rPr sz="1000" spc="114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інша</a:t>
            </a:r>
            <a:r>
              <a:rPr sz="1000" spc="114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планета,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499" y="6650899"/>
            <a:ext cx="28009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3.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00" dirty="0">
                <a:solidFill>
                  <a:srgbClr val="2462EB"/>
                </a:solidFill>
                <a:latin typeface="Trebuchet MS"/>
                <a:cs typeface="Trebuchet MS"/>
              </a:rPr>
              <a:t>ПЕРСОНАЖІ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14" dirty="0">
                <a:solidFill>
                  <a:srgbClr val="2462EB"/>
                </a:solidFill>
                <a:latin typeface="Trebuchet MS"/>
                <a:cs typeface="Trebuchet MS"/>
              </a:rPr>
              <a:t>ТА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55" dirty="0">
                <a:solidFill>
                  <a:srgbClr val="2462EB"/>
                </a:solidFill>
                <a:latin typeface="Trebuchet MS"/>
                <a:cs typeface="Trebuchet MS"/>
              </a:rPr>
              <a:t>ОБ'ЄКТИ</a:t>
            </a:r>
            <a:endParaRPr sz="1400">
              <a:latin typeface="Trebuchet MS"/>
              <a:cs typeface="Trebuchet MS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796286"/>
              </p:ext>
            </p:extLst>
          </p:nvPr>
        </p:nvGraphicFramePr>
        <p:xfrm>
          <a:off x="806825" y="6914424"/>
          <a:ext cx="5939789" cy="17088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676">
                <a:tc>
                  <a:txBody>
                    <a:bodyPr/>
                    <a:lstStyle/>
                    <a:p>
                      <a:pPr marL="572770" marR="110489" indent="-454659">
                        <a:lnSpc>
                          <a:spcPct val="111100"/>
                        </a:lnSpc>
                        <a:spcBef>
                          <a:spcPts val="680"/>
                        </a:spcBef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Об'єкт/Персона </a:t>
                      </a:r>
                      <a:r>
                        <a:rPr sz="900" b="1" spc="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ж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8636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Роль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6355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 marL="398780" marR="287020" indent="-104139">
                        <a:lnSpc>
                          <a:spcPct val="111100"/>
                        </a:lnSpc>
                        <a:spcBef>
                          <a:spcPts val="680"/>
                        </a:spcBef>
                      </a:pPr>
                      <a:r>
                        <a:rPr sz="9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Зовнішній вигляд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8636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Основні</a:t>
                      </a:r>
                      <a:r>
                        <a:rPr sz="900" b="1" spc="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дії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6355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dirty="0" smtClean="0">
                          <a:latin typeface="Times New Roman"/>
                          <a:cs typeface="Times New Roman"/>
                        </a:rPr>
                        <a:t>Kodu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Головний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герой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Маленький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робот з великими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очима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Рухається</a:t>
                      </a: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збирає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яблука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виконує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команди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Яблуко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Бонус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Червоне</a:t>
                      </a: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яблуко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Дає</a:t>
                      </a: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 очки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Дерево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Декорація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Зелене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з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коричневим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стеблом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Прикрашає</a:t>
                      </a: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світ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Вода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Перешкода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ru-RU" sz="1000" dirty="0" smtClean="0">
                          <a:latin typeface="Times New Roman"/>
                          <a:cs typeface="Times New Roman"/>
                        </a:rPr>
                        <a:t>Синя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поверхня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000" dirty="0" err="1" smtClean="0">
                          <a:latin typeface="Times New Roman"/>
                          <a:cs typeface="Times New Roman"/>
                        </a:rPr>
                        <a:t>Уповільнює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або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зупиняє</a:t>
                      </a:r>
                      <a:r>
                        <a:rPr lang="ru-RU" sz="10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000" baseline="0" dirty="0" err="1" smtClean="0">
                          <a:latin typeface="Times New Roman"/>
                          <a:cs typeface="Times New Roman"/>
                        </a:rPr>
                        <a:t>персонажжа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783499" y="8778403"/>
            <a:ext cx="4919345" cy="4889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4.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ПРАВИЛА</a:t>
            </a:r>
            <a:r>
              <a:rPr sz="1400" b="1" spc="9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ПРОГРАМУВАННЯ</a:t>
            </a:r>
            <a:r>
              <a:rPr sz="1400" b="1" spc="9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0" dirty="0">
                <a:solidFill>
                  <a:srgbClr val="2462EB"/>
                </a:solidFill>
                <a:latin typeface="Trebuchet MS"/>
                <a:cs typeface="Trebuchet MS"/>
              </a:rPr>
              <a:t>KODU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spc="85" dirty="0">
                <a:solidFill>
                  <a:srgbClr val="1D283B"/>
                </a:solidFill>
                <a:latin typeface="Arial"/>
                <a:cs typeface="Arial"/>
              </a:rPr>
              <a:t>Задокументуйте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основну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95" dirty="0">
                <a:solidFill>
                  <a:srgbClr val="1D283B"/>
                </a:solidFill>
                <a:latin typeface="Arial"/>
                <a:cs typeface="Arial"/>
              </a:rPr>
              <a:t>логіку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80" dirty="0">
                <a:solidFill>
                  <a:srgbClr val="1D283B"/>
                </a:solidFill>
                <a:latin typeface="Arial"/>
                <a:cs typeface="Arial"/>
              </a:rPr>
              <a:t>програмування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90" dirty="0">
                <a:solidFill>
                  <a:srgbClr val="1D283B"/>
                </a:solidFill>
                <a:latin typeface="Arial"/>
                <a:cs typeface="Arial"/>
              </a:rPr>
              <a:t>у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форматі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1D283B"/>
                </a:solidFill>
                <a:latin typeface="Arial"/>
                <a:cs typeface="Arial"/>
              </a:rPr>
              <a:t>КОЛИ </a:t>
            </a:r>
            <a:r>
              <a:rPr sz="1000" spc="-170" dirty="0">
                <a:solidFill>
                  <a:srgbClr val="1D283B"/>
                </a:solidFill>
                <a:latin typeface="Arial"/>
                <a:cs typeface="Arial"/>
              </a:rPr>
              <a:t>→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D283B"/>
                </a:solidFill>
                <a:latin typeface="Arial"/>
                <a:cs typeface="Arial"/>
              </a:rPr>
              <a:t>ТОДІ.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06825" y="9352825"/>
          <a:ext cx="5940425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Об'єкт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КОЛИ</a:t>
                      </a:r>
                      <a:r>
                        <a:rPr sz="900" b="1" spc="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(Умова)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ТОДІ</a:t>
                      </a:r>
                      <a:r>
                        <a:rPr sz="900" b="1" spc="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(Дія)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06825" y="4813300"/>
            <a:ext cx="5939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Головна </a:t>
            </a:r>
            <a:r>
              <a:rPr lang="ru-RU" dirty="0" err="1" smtClean="0"/>
              <a:t>ідея</a:t>
            </a:r>
            <a:r>
              <a:rPr lang="ru-RU" dirty="0" smtClean="0"/>
              <a:t> </a:t>
            </a:r>
            <a:r>
              <a:rPr lang="ru-RU" dirty="0" err="1" smtClean="0"/>
              <a:t>зібрати</a:t>
            </a:r>
            <a:r>
              <a:rPr lang="ru-RU" dirty="0" smtClean="0"/>
              <a:t> </a:t>
            </a:r>
            <a:r>
              <a:rPr lang="ru-RU" dirty="0" err="1" smtClean="0"/>
              <a:t>яблуко</a:t>
            </a:r>
            <a:r>
              <a:rPr lang="ru-RU" dirty="0" smtClean="0"/>
              <a:t> та пойти </a:t>
            </a:r>
            <a:r>
              <a:rPr lang="ru-RU" dirty="0" err="1" smtClean="0"/>
              <a:t>перешкоди</a:t>
            </a:r>
            <a:r>
              <a:rPr lang="ru-RU" dirty="0" smtClean="0"/>
              <a:t> у </a:t>
            </a:r>
            <a:r>
              <a:rPr lang="ru-RU" dirty="0" err="1" smtClean="0"/>
              <a:t>вигляді</a:t>
            </a:r>
            <a:r>
              <a:rPr lang="ru-RU" dirty="0" smtClean="0"/>
              <a:t> гори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806825" y="6108700"/>
            <a:ext cx="5939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Гра</a:t>
            </a:r>
            <a:r>
              <a:rPr lang="ru-RU" dirty="0" smtClean="0"/>
              <a:t> </a:t>
            </a:r>
            <a:r>
              <a:rPr lang="ru-RU" dirty="0" err="1" smtClean="0"/>
              <a:t>відбувається</a:t>
            </a:r>
            <a:r>
              <a:rPr lang="ru-RU" dirty="0" smtClean="0"/>
              <a:t> на </a:t>
            </a:r>
            <a:r>
              <a:rPr lang="ru-RU" dirty="0" err="1" smtClean="0"/>
              <a:t>острові</a:t>
            </a:r>
            <a:r>
              <a:rPr lang="ru-RU" dirty="0" smtClean="0"/>
              <a:t> на </a:t>
            </a:r>
            <a:r>
              <a:rPr lang="ru-RU" dirty="0" err="1" smtClean="0"/>
              <a:t>пленеті</a:t>
            </a:r>
            <a:r>
              <a:rPr lang="ru-RU" dirty="0" smtClean="0"/>
              <a:t> земля де </a:t>
            </a:r>
            <a:r>
              <a:rPr lang="ru-RU" dirty="0" err="1" smtClean="0"/>
              <a:t>розташовані</a:t>
            </a:r>
            <a:r>
              <a:rPr lang="ru-RU" dirty="0" smtClean="0"/>
              <a:t> дерево та </a:t>
            </a:r>
            <a:r>
              <a:rPr lang="ru-RU" dirty="0" err="1" smtClean="0"/>
              <a:t>каміня</a:t>
            </a:r>
            <a:endParaRPr lang="ru-RU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343732"/>
              </p:ext>
            </p:extLst>
          </p:nvPr>
        </p:nvGraphicFramePr>
        <p:xfrm>
          <a:off x="825409" y="774518"/>
          <a:ext cx="5940425" cy="204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Kodu</a:t>
                      </a:r>
                      <a:r>
                        <a:rPr sz="900" spc="20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4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(Гравець)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Клавіатура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900" spc="6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WASD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4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Рухатись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Kodu</a:t>
                      </a:r>
                      <a:r>
                        <a:rPr sz="900" spc="20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4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(Гравець)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Клавіатура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900" spc="6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Пробіл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5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Стрибати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4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Яблуко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7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Зіткнення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sz="900" spc="4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Kodu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Вибух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22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9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Зникнути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22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6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Рахунок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95" dirty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+10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Kodu</a:t>
                      </a:r>
                      <a:r>
                        <a:rPr lang="en-US" sz="900" spc="20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spc="4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lang="ru-RU" sz="900" spc="45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Гравець</a:t>
                      </a:r>
                      <a:r>
                        <a:rPr lang="ru-RU" sz="900" spc="4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lang="ru-RU" sz="9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spc="65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Клавіатура</a:t>
                      </a:r>
                      <a:r>
                        <a:rPr lang="ru-RU" sz="900" spc="5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900" spc="-16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ru-RU" sz="900" spc="6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900" spc="60" dirty="0" smtClean="0">
                          <a:solidFill>
                            <a:srgbClr val="1D283B"/>
                          </a:solidFill>
                          <a:latin typeface="Arial"/>
                          <a:ea typeface="Segoe UI Emoji" panose="020B0502040204020203" pitchFamily="34" charset="0"/>
                          <a:cs typeface="Arial"/>
                        </a:rPr>
                        <a:t>⇦⇧⇨⇩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spc="40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Рухатись</a:t>
                      </a:r>
                      <a:endParaRPr lang="ru-RU" sz="9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Kodu</a:t>
                      </a:r>
                      <a:r>
                        <a:rPr lang="en-US" sz="900" spc="20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spc="4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lang="ru-RU" sz="900" spc="45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Гравець</a:t>
                      </a:r>
                      <a:r>
                        <a:rPr lang="ru-RU" sz="900" spc="4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lang="ru-RU" sz="9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900" spc="65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Клавіатура</a:t>
                      </a:r>
                      <a:r>
                        <a:rPr lang="ru-RU" sz="900" spc="5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900" spc="-16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ru-RU" sz="900" spc="6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900" spc="60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Пробіл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spc="50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Стрибати</a:t>
                      </a:r>
                      <a:endParaRPr lang="ru-RU" sz="9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spc="45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Яблуко</a:t>
                      </a:r>
                      <a:endParaRPr lang="ru-RU" sz="9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spc="75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Зіткнення</a:t>
                      </a:r>
                      <a:r>
                        <a:rPr lang="ru-RU" sz="900" spc="4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900" spc="-16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→</a:t>
                      </a:r>
                      <a:r>
                        <a:rPr lang="ru-RU" sz="900" spc="4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spc="-2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Kodu</a:t>
                      </a:r>
                      <a:endParaRPr lang="en-US" sz="9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spc="60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Вибух</a:t>
                      </a:r>
                      <a:r>
                        <a:rPr lang="ru-RU" sz="900" spc="4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900" spc="22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lang="ru-RU" sz="900" spc="4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900" spc="90" dirty="0" err="1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Зникнути</a:t>
                      </a:r>
                      <a:r>
                        <a:rPr lang="ru-RU" sz="900" spc="22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lang="ru-RU" sz="900" spc="4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900" spc="60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Рахунок</a:t>
                      </a:r>
                      <a:r>
                        <a:rPr lang="ru-RU" sz="900" spc="95" dirty="0" smtClean="0">
                          <a:solidFill>
                            <a:srgbClr val="1D283B"/>
                          </a:solidFill>
                          <a:latin typeface="Arial"/>
                          <a:cs typeface="Arial"/>
                        </a:rPr>
                        <a:t>+10</a:t>
                      </a:r>
                      <a:endParaRPr lang="ru-RU" sz="900" dirty="0" smtClean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68104" y="2764699"/>
            <a:ext cx="34239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85" dirty="0">
                <a:solidFill>
                  <a:srgbClr val="64748A"/>
                </a:solidFill>
                <a:latin typeface="Arial"/>
                <a:cs typeface="Arial"/>
              </a:rPr>
              <a:t>*</a:t>
            </a:r>
            <a:r>
              <a:rPr sz="800" spc="5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4748A"/>
                </a:solidFill>
                <a:latin typeface="Arial"/>
                <a:cs typeface="Arial"/>
              </a:rPr>
              <a:t>Сірі</a:t>
            </a:r>
            <a:r>
              <a:rPr sz="800" spc="5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spc="75" dirty="0">
                <a:solidFill>
                  <a:srgbClr val="64748A"/>
                </a:solidFill>
                <a:latin typeface="Arial"/>
                <a:cs typeface="Arial"/>
              </a:rPr>
              <a:t>рядки</a:t>
            </a:r>
            <a:r>
              <a:rPr sz="800" spc="5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spc="70" dirty="0">
                <a:solidFill>
                  <a:srgbClr val="64748A"/>
                </a:solidFill>
                <a:latin typeface="Arial"/>
                <a:cs typeface="Arial"/>
              </a:rPr>
              <a:t>показують</a:t>
            </a:r>
            <a:r>
              <a:rPr sz="800" spc="5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spc="70" dirty="0">
                <a:solidFill>
                  <a:srgbClr val="64748A"/>
                </a:solidFill>
                <a:latin typeface="Arial"/>
                <a:cs typeface="Arial"/>
              </a:rPr>
              <a:t>приклади</a:t>
            </a:r>
            <a:r>
              <a:rPr sz="800" spc="5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4748A"/>
                </a:solidFill>
                <a:latin typeface="Arial"/>
                <a:cs typeface="Arial"/>
              </a:rPr>
              <a:t>—</a:t>
            </a:r>
            <a:r>
              <a:rPr sz="800" spc="55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64748A"/>
                </a:solidFill>
                <a:latin typeface="Arial"/>
                <a:cs typeface="Arial"/>
              </a:rPr>
              <a:t>замініть</a:t>
            </a:r>
            <a:r>
              <a:rPr sz="800" spc="5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64748A"/>
                </a:solidFill>
                <a:latin typeface="Arial"/>
                <a:cs typeface="Arial"/>
              </a:rPr>
              <a:t>на</a:t>
            </a:r>
            <a:r>
              <a:rPr sz="800" spc="50" dirty="0">
                <a:solidFill>
                  <a:srgbClr val="64748A"/>
                </a:solidFill>
                <a:latin typeface="Arial"/>
                <a:cs typeface="Arial"/>
              </a:rPr>
              <a:t> власні </a:t>
            </a:r>
            <a:r>
              <a:rPr sz="800" spc="40" dirty="0">
                <a:solidFill>
                  <a:srgbClr val="64748A"/>
                </a:solidFill>
                <a:latin typeface="Arial"/>
                <a:cs typeface="Arial"/>
              </a:rPr>
              <a:t>правила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3499" y="3036248"/>
            <a:ext cx="2279015" cy="738664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5.</a:t>
            </a:r>
            <a:r>
              <a:rPr sz="1400" b="1" spc="7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ДИЗАЙН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25" dirty="0">
                <a:solidFill>
                  <a:srgbClr val="2462EB"/>
                </a:solidFill>
                <a:latin typeface="Trebuchet MS"/>
                <a:cs typeface="Trebuchet MS"/>
              </a:rPr>
              <a:t>СВІТУ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b="1" spc="85" dirty="0">
                <a:solidFill>
                  <a:srgbClr val="1D283B"/>
                </a:solidFill>
                <a:latin typeface="Trebuchet MS"/>
                <a:cs typeface="Trebuchet MS"/>
              </a:rPr>
              <a:t>Тип</a:t>
            </a:r>
            <a:r>
              <a:rPr sz="1100" b="1" spc="5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75" dirty="0">
                <a:solidFill>
                  <a:srgbClr val="1D283B"/>
                </a:solidFill>
                <a:latin typeface="Trebuchet MS"/>
                <a:cs typeface="Trebuchet MS"/>
              </a:rPr>
              <a:t>місцевості: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866775" algn="l"/>
                <a:tab pos="1767205" algn="l"/>
              </a:tabLst>
            </a:pP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sz="1000" spc="4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>
                <a:solidFill>
                  <a:srgbClr val="1D283B"/>
                </a:solidFill>
                <a:latin typeface="Arial"/>
                <a:cs typeface="Arial"/>
              </a:rPr>
              <a:t> Рівнина</a:t>
            </a:r>
            <a:r>
              <a:rPr sz="1000" dirty="0">
                <a:solidFill>
                  <a:srgbClr val="1D283B"/>
                </a:solidFill>
                <a:latin typeface="Arial"/>
                <a:cs typeface="Arial"/>
              </a:rPr>
              <a:t>	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lang="ru-RU" sz="1000" spc="110" dirty="0" smtClean="0">
                <a:solidFill>
                  <a:srgbClr val="1D283B"/>
                </a:solidFill>
                <a:latin typeface="Arial"/>
                <a:ea typeface="Segoe UI Emoji" panose="020B0502040204020203" pitchFamily="34" charset="0"/>
                <a:cs typeface="Arial"/>
              </a:rPr>
              <a:t>☑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 smtClean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Arial"/>
                <a:cs typeface="Arial"/>
              </a:rPr>
              <a:t>Пагорби</a:t>
            </a:r>
            <a:r>
              <a:rPr sz="1000" dirty="0">
                <a:solidFill>
                  <a:srgbClr val="1D283B"/>
                </a:solidFill>
                <a:latin typeface="Arial"/>
                <a:cs typeface="Arial"/>
              </a:rPr>
              <a:t>	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sz="1000" spc="40" dirty="0" smtClean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 smtClean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Гори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8112" y="3602899"/>
            <a:ext cx="157073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3895" algn="l"/>
              </a:tabLst>
            </a:pP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sz="1000" spc="40" dirty="0" smtClean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 smtClean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35" dirty="0" err="1" smtClean="0">
                <a:solidFill>
                  <a:srgbClr val="1D283B"/>
                </a:solidFill>
                <a:latin typeface="Arial"/>
                <a:cs typeface="Arial"/>
              </a:rPr>
              <a:t>Вода</a:t>
            </a:r>
            <a:r>
              <a:rPr lang="ru-RU" sz="100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lang="ru-RU" sz="1000" dirty="0" smtClean="0">
                <a:solidFill>
                  <a:srgbClr val="1D283B"/>
                </a:solidFill>
                <a:latin typeface="Arial"/>
                <a:cs typeface="Arial"/>
              </a:rPr>
              <a:t>    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[</a:t>
            </a:r>
            <a:r>
              <a:rPr lang="ru-RU" sz="1000" spc="110" dirty="0" smtClean="0">
                <a:solidFill>
                  <a:srgbClr val="1D283B"/>
                </a:solidFill>
                <a:latin typeface="Arial"/>
                <a:ea typeface="Segoe UI Emoji" panose="020B0502040204020203" pitchFamily="34" charset="0"/>
                <a:cs typeface="Arial"/>
              </a:rPr>
              <a:t>☑</a:t>
            </a:r>
            <a:r>
              <a:rPr sz="1000" spc="110" dirty="0" smtClean="0">
                <a:solidFill>
                  <a:srgbClr val="1D283B"/>
                </a:solidFill>
                <a:latin typeface="Arial"/>
                <a:cs typeface="Arial"/>
              </a:rPr>
              <a:t>]</a:t>
            </a:r>
            <a:r>
              <a:rPr sz="1000" spc="45" dirty="0" smtClean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55" dirty="0" err="1" smtClean="0">
                <a:solidFill>
                  <a:srgbClr val="1D283B"/>
                </a:solidFill>
                <a:latin typeface="Arial"/>
                <a:cs typeface="Arial"/>
              </a:rPr>
              <a:t>Змішана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3499" y="3868583"/>
            <a:ext cx="3630929" cy="5981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b="1" spc="100" dirty="0">
                <a:solidFill>
                  <a:srgbClr val="1D283B"/>
                </a:solidFill>
                <a:latin typeface="Trebuchet MS"/>
                <a:cs typeface="Trebuchet MS"/>
              </a:rPr>
              <a:t>Ескіз</a:t>
            </a:r>
            <a:r>
              <a:rPr sz="1100" b="1" spc="5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70" dirty="0">
                <a:solidFill>
                  <a:srgbClr val="1D283B"/>
                </a:solidFill>
                <a:latin typeface="Trebuchet MS"/>
                <a:cs typeface="Trebuchet MS"/>
              </a:rPr>
              <a:t>світу:</a:t>
            </a:r>
            <a:endParaRPr sz="110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Намалюйте</a:t>
            </a:r>
            <a:r>
              <a:rPr sz="1000" spc="204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80" dirty="0">
                <a:solidFill>
                  <a:srgbClr val="1D283B"/>
                </a:solidFill>
                <a:latin typeface="Arial"/>
                <a:cs typeface="Arial"/>
              </a:rPr>
              <a:t>просту</a:t>
            </a:r>
            <a:r>
              <a:rPr sz="1000" spc="21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105" dirty="0">
                <a:solidFill>
                  <a:srgbClr val="1D283B"/>
                </a:solidFill>
                <a:latin typeface="Arial"/>
                <a:cs typeface="Arial"/>
              </a:rPr>
              <a:t>карту</a:t>
            </a:r>
            <a:r>
              <a:rPr sz="1000" spc="204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85" dirty="0">
                <a:solidFill>
                  <a:srgbClr val="1D283B"/>
                </a:solidFill>
                <a:latin typeface="Arial"/>
                <a:cs typeface="Arial"/>
              </a:rPr>
              <a:t>ігрового</a:t>
            </a:r>
            <a:r>
              <a:rPr sz="1000" spc="21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світу</a:t>
            </a:r>
            <a:r>
              <a:rPr sz="1000" spc="204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55" dirty="0">
                <a:solidFill>
                  <a:srgbClr val="1D283B"/>
                </a:solidFill>
                <a:latin typeface="Arial"/>
                <a:cs typeface="Arial"/>
              </a:rPr>
              <a:t>зверху, 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розміщення</a:t>
            </a:r>
            <a:r>
              <a:rPr sz="1000" spc="5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Arial"/>
                <a:cs typeface="Arial"/>
              </a:rPr>
              <a:t>об'єктів.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1186" y="4110899"/>
            <a:ext cx="2265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85" dirty="0">
                <a:solidFill>
                  <a:srgbClr val="1D283B"/>
                </a:solidFill>
                <a:latin typeface="Arial"/>
                <a:cs typeface="Arial"/>
              </a:rPr>
              <a:t>показуючи</a:t>
            </a:r>
            <a:r>
              <a:rPr sz="1000" spc="21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Arial"/>
                <a:cs typeface="Arial"/>
              </a:rPr>
              <a:t>ключові</a:t>
            </a:r>
            <a:r>
              <a:rPr sz="1000" spc="21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локації</a:t>
            </a:r>
            <a:r>
              <a:rPr sz="1000" spc="21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та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09993" y="4549060"/>
            <a:ext cx="5955246" cy="1993264"/>
            <a:chOff x="809993" y="4549060"/>
            <a:chExt cx="5955246" cy="1993264"/>
          </a:xfrm>
          <a:solidFill>
            <a:srgbClr val="92D050"/>
          </a:solidFill>
        </p:grpSpPr>
        <p:sp>
          <p:nvSpPr>
            <p:cNvPr id="9" name="object 9"/>
            <p:cNvSpPr/>
            <p:nvPr/>
          </p:nvSpPr>
          <p:spPr>
            <a:xfrm>
              <a:off x="810000" y="4555400"/>
              <a:ext cx="5955239" cy="1979998"/>
            </a:xfrm>
            <a:custGeom>
              <a:avLst/>
              <a:gdLst>
                <a:gd name="connsiteX0" fmla="*/ 5939999 w 5939999"/>
                <a:gd name="connsiteY0" fmla="*/ 0 h 1979999"/>
                <a:gd name="connsiteX1" fmla="*/ 0 w 5939999"/>
                <a:gd name="connsiteY1" fmla="*/ 0 h 1979999"/>
                <a:gd name="connsiteX2" fmla="*/ 0 w 5939999"/>
                <a:gd name="connsiteY2" fmla="*/ 1979999 h 1979999"/>
                <a:gd name="connsiteX3" fmla="*/ 5818079 w 5939999"/>
                <a:gd name="connsiteY3" fmla="*/ 1858079 h 1979999"/>
                <a:gd name="connsiteX4" fmla="*/ 5939999 w 5939999"/>
                <a:gd name="connsiteY4" fmla="*/ 0 h 1979999"/>
                <a:gd name="connsiteX0" fmla="*/ 5939999 w 5955239"/>
                <a:gd name="connsiteY0" fmla="*/ 0 h 1979999"/>
                <a:gd name="connsiteX1" fmla="*/ 0 w 5955239"/>
                <a:gd name="connsiteY1" fmla="*/ 0 h 1979999"/>
                <a:gd name="connsiteX2" fmla="*/ 0 w 5955239"/>
                <a:gd name="connsiteY2" fmla="*/ 1979999 h 1979999"/>
                <a:gd name="connsiteX3" fmla="*/ 5955239 w 5955239"/>
                <a:gd name="connsiteY3" fmla="*/ 1964759 h 1979999"/>
                <a:gd name="connsiteX4" fmla="*/ 5939999 w 5955239"/>
                <a:gd name="connsiteY4" fmla="*/ 0 h 197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55239" h="1979999">
                  <a:moveTo>
                    <a:pt x="5939999" y="0"/>
                  </a:moveTo>
                  <a:lnTo>
                    <a:pt x="0" y="0"/>
                  </a:lnTo>
                  <a:lnTo>
                    <a:pt x="0" y="1979999"/>
                  </a:lnTo>
                  <a:lnTo>
                    <a:pt x="5955239" y="1964759"/>
                  </a:lnTo>
                  <a:lnTo>
                    <a:pt x="593999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9993" y="4549060"/>
              <a:ext cx="5940425" cy="1993264"/>
            </a:xfrm>
            <a:custGeom>
              <a:avLst/>
              <a:gdLst/>
              <a:ahLst/>
              <a:cxnLst/>
              <a:rect l="l" t="t" r="r" b="b"/>
              <a:pathLst>
                <a:path w="5940425" h="1993265">
                  <a:moveTo>
                    <a:pt x="5940006" y="1979993"/>
                  </a:moveTo>
                  <a:lnTo>
                    <a:pt x="0" y="1979993"/>
                  </a:lnTo>
                  <a:lnTo>
                    <a:pt x="0" y="1992693"/>
                  </a:lnTo>
                  <a:lnTo>
                    <a:pt x="5940006" y="1992693"/>
                  </a:lnTo>
                  <a:lnTo>
                    <a:pt x="5940006" y="1979993"/>
                  </a:lnTo>
                  <a:close/>
                </a:path>
                <a:path w="5940425" h="1993265">
                  <a:moveTo>
                    <a:pt x="594000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940006" y="12700"/>
                  </a:lnTo>
                  <a:lnTo>
                    <a:pt x="5940006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0000" y="4555400"/>
              <a:ext cx="5940425" cy="1980564"/>
            </a:xfrm>
            <a:custGeom>
              <a:avLst/>
              <a:gdLst/>
              <a:ahLst/>
              <a:cxnLst/>
              <a:rect l="l" t="t" r="r" b="b"/>
              <a:pathLst>
                <a:path w="5940425" h="1980565">
                  <a:moveTo>
                    <a:pt x="0" y="1979999"/>
                  </a:moveTo>
                  <a:lnTo>
                    <a:pt x="0" y="0"/>
                  </a:lnTo>
                </a:path>
                <a:path w="5940425" h="1980565">
                  <a:moveTo>
                    <a:pt x="5939999" y="1979999"/>
                  </a:moveTo>
                  <a:lnTo>
                    <a:pt x="5939999" y="0"/>
                  </a:lnTo>
                </a:path>
              </a:pathLst>
            </a:custGeom>
            <a:grpFill/>
            <a:ln w="12699">
              <a:solidFill>
                <a:srgbClr val="6474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3499" y="6725901"/>
            <a:ext cx="35737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6. </a:t>
            </a:r>
            <a:r>
              <a:rPr sz="1400" b="1" spc="215" dirty="0">
                <a:solidFill>
                  <a:srgbClr val="2462EB"/>
                </a:solidFill>
                <a:latin typeface="Trebuchet MS"/>
                <a:cs typeface="Trebuchet MS"/>
              </a:rPr>
              <a:t>УМОВИ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85" dirty="0">
                <a:solidFill>
                  <a:srgbClr val="2462EB"/>
                </a:solidFill>
                <a:latin typeface="Trebuchet MS"/>
                <a:cs typeface="Trebuchet MS"/>
              </a:rPr>
              <a:t>ПЕРЕМОГИ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14" dirty="0">
                <a:solidFill>
                  <a:srgbClr val="2462EB"/>
                </a:solidFill>
                <a:latin typeface="Trebuchet MS"/>
                <a:cs typeface="Trebuchet MS"/>
              </a:rPr>
              <a:t>ТА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ПОРАЗКИ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500" y="7030701"/>
            <a:ext cx="87121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95" dirty="0">
                <a:solidFill>
                  <a:srgbClr val="64748A"/>
                </a:solidFill>
                <a:latin typeface="Trebuchet MS"/>
                <a:cs typeface="Trebuchet MS"/>
              </a:rPr>
              <a:t>Умова </a:t>
            </a:r>
            <a:r>
              <a:rPr sz="1000" b="1" spc="114" dirty="0">
                <a:solidFill>
                  <a:srgbClr val="64748A"/>
                </a:solidFill>
                <a:latin typeface="Trebuchet MS"/>
                <a:cs typeface="Trebuchet MS"/>
              </a:rPr>
              <a:t>ПЕРЕМОГИ: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3500" y="7005301"/>
            <a:ext cx="455358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spc="60" dirty="0">
                <a:solidFill>
                  <a:srgbClr val="1D283B"/>
                </a:solidFill>
                <a:latin typeface="Arial"/>
                <a:cs typeface="Arial"/>
              </a:rPr>
              <a:t>Як</a:t>
            </a:r>
            <a:r>
              <a:rPr sz="1000" spc="15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80" dirty="0">
                <a:solidFill>
                  <a:srgbClr val="1D283B"/>
                </a:solidFill>
                <a:latin typeface="Arial"/>
                <a:cs typeface="Arial"/>
              </a:rPr>
              <a:t>гравець</a:t>
            </a:r>
            <a:r>
              <a:rPr sz="1000" spc="15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перемагає?</a:t>
            </a:r>
            <a:r>
              <a:rPr sz="1000" spc="15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(напр.,</a:t>
            </a:r>
            <a:r>
              <a:rPr sz="1000" spc="15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зібрати</a:t>
            </a:r>
            <a:r>
              <a:rPr sz="1000" spc="160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всі</a:t>
            </a:r>
            <a:r>
              <a:rPr sz="1000" spc="15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яблука,</a:t>
            </a:r>
            <a:r>
              <a:rPr sz="1000" spc="155" dirty="0">
                <a:solidFill>
                  <a:srgbClr val="1D283B"/>
                </a:solidFill>
                <a:latin typeface="Arial"/>
                <a:cs typeface="Arial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дістатися фінішу,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90" dirty="0">
                <a:solidFill>
                  <a:srgbClr val="1D283B"/>
                </a:solidFill>
                <a:latin typeface="Arial"/>
                <a:cs typeface="Arial"/>
              </a:rPr>
              <a:t>перемогти</a:t>
            </a:r>
            <a:r>
              <a:rPr sz="1000" spc="55" dirty="0">
                <a:solidFill>
                  <a:srgbClr val="1D283B"/>
                </a:solidFill>
                <a:latin typeface="Arial"/>
                <a:cs typeface="Arial"/>
              </a:rPr>
              <a:t> всіх</a:t>
            </a:r>
            <a:r>
              <a:rPr sz="1000" spc="5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1D283B"/>
                </a:solidFill>
                <a:latin typeface="Arial"/>
                <a:cs typeface="Arial"/>
              </a:rPr>
              <a:t>ворогів)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70000" y="7424400"/>
            <a:ext cx="4680585" cy="457200"/>
            <a:chOff x="2070000" y="7424400"/>
            <a:chExt cx="4680585" cy="457200"/>
          </a:xfrm>
        </p:grpSpPr>
        <p:sp>
          <p:nvSpPr>
            <p:cNvPr id="16" name="object 16"/>
            <p:cNvSpPr/>
            <p:nvPr/>
          </p:nvSpPr>
          <p:spPr>
            <a:xfrm>
              <a:off x="2070000" y="7424400"/>
              <a:ext cx="4680585" cy="457200"/>
            </a:xfrm>
            <a:custGeom>
              <a:avLst/>
              <a:gdLst/>
              <a:ahLst/>
              <a:cxnLst/>
              <a:rect l="l" t="t" r="r" b="b"/>
              <a:pathLst>
                <a:path w="4680584" h="457200">
                  <a:moveTo>
                    <a:pt x="4679999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4679999" y="457199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ru-RU" dirty="0" err="1" smtClean="0"/>
                <a:t>Якщо</a:t>
              </a:r>
              <a:r>
                <a:rPr lang="ru-RU" dirty="0" smtClean="0"/>
                <a:t> </a:t>
              </a:r>
              <a:r>
                <a:rPr lang="ru-RU" dirty="0" err="1" smtClean="0"/>
                <a:t>гравець</a:t>
              </a:r>
              <a:r>
                <a:rPr lang="ru-RU" dirty="0" smtClean="0"/>
                <a:t> </a:t>
              </a:r>
              <a:r>
                <a:rPr lang="ru-RU" dirty="0" err="1" smtClean="0"/>
                <a:t>збирає</a:t>
              </a:r>
              <a:r>
                <a:rPr lang="ru-RU" dirty="0" smtClean="0"/>
                <a:t> 5 </a:t>
              </a:r>
              <a:r>
                <a:rPr lang="ru-RU" dirty="0" err="1" smtClean="0"/>
                <a:t>яблук</a:t>
              </a:r>
              <a:r>
                <a:rPr lang="ru-RU" dirty="0" smtClean="0"/>
                <a:t> в одному </a:t>
              </a:r>
              <a:r>
                <a:rPr lang="ru-RU" dirty="0" err="1" smtClean="0"/>
                <a:t>місці</a:t>
              </a:r>
              <a:r>
                <a:rPr lang="ru-RU" dirty="0"/>
                <a:t> </a:t>
              </a:r>
              <a:r>
                <a:rPr lang="ru-RU" dirty="0" smtClean="0"/>
                <a:t>за </a:t>
              </a:r>
              <a:r>
                <a:rPr lang="ru-RU" dirty="0" err="1" smtClean="0"/>
                <a:t>певний</a:t>
              </a:r>
              <a:r>
                <a:rPr lang="ru-RU" dirty="0" smtClean="0"/>
                <a:t> час</a:t>
              </a:r>
            </a:p>
          </p:txBody>
        </p:sp>
        <p:sp>
          <p:nvSpPr>
            <p:cNvPr id="17" name="object 17"/>
            <p:cNvSpPr/>
            <p:nvPr/>
          </p:nvSpPr>
          <p:spPr>
            <a:xfrm>
              <a:off x="2146200" y="7653127"/>
              <a:ext cx="4508500" cy="152400"/>
            </a:xfrm>
            <a:custGeom>
              <a:avLst/>
              <a:gdLst/>
              <a:ahLst/>
              <a:cxnLst/>
              <a:rect l="l" t="t" r="r" b="b"/>
              <a:pathLst>
                <a:path w="4508500" h="152400">
                  <a:moveTo>
                    <a:pt x="0" y="0"/>
                  </a:moveTo>
                  <a:lnTo>
                    <a:pt x="4508500" y="0"/>
                  </a:lnTo>
                </a:path>
                <a:path w="4508500" h="152400">
                  <a:moveTo>
                    <a:pt x="0" y="152400"/>
                  </a:moveTo>
                  <a:lnTo>
                    <a:pt x="571500" y="15240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3500" y="7894300"/>
            <a:ext cx="7823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95" dirty="0">
                <a:solidFill>
                  <a:srgbClr val="64748A"/>
                </a:solidFill>
                <a:latin typeface="Trebuchet MS"/>
                <a:cs typeface="Trebuchet MS"/>
              </a:rPr>
              <a:t>Умова </a:t>
            </a:r>
            <a:r>
              <a:rPr sz="1000" b="1" spc="120" dirty="0">
                <a:solidFill>
                  <a:srgbClr val="64748A"/>
                </a:solidFill>
                <a:latin typeface="Trebuchet MS"/>
                <a:cs typeface="Trebuchet MS"/>
              </a:rPr>
              <a:t>ПОРАЗКИ: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3500" y="7868900"/>
            <a:ext cx="455358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spc="60" dirty="0">
                <a:solidFill>
                  <a:srgbClr val="1D283B"/>
                </a:solidFill>
                <a:latin typeface="Arial"/>
                <a:cs typeface="Arial"/>
              </a:rPr>
              <a:t>Як</a:t>
            </a:r>
            <a:r>
              <a:rPr sz="1000" spc="17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80" dirty="0">
                <a:solidFill>
                  <a:srgbClr val="1D283B"/>
                </a:solidFill>
                <a:latin typeface="Arial"/>
                <a:cs typeface="Arial"/>
              </a:rPr>
              <a:t>гравець</a:t>
            </a:r>
            <a:r>
              <a:rPr sz="1000" spc="18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програє?</a:t>
            </a:r>
            <a:r>
              <a:rPr sz="1000" spc="17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(напр.,</a:t>
            </a:r>
            <a:r>
              <a:rPr sz="1000" spc="18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Arial"/>
                <a:cs typeface="Arial"/>
              </a:rPr>
              <a:t>здоров'я</a:t>
            </a:r>
            <a:r>
              <a:rPr sz="1000" spc="18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245" dirty="0">
                <a:solidFill>
                  <a:srgbClr val="1D283B"/>
                </a:solidFill>
                <a:latin typeface="Arial"/>
                <a:cs typeface="Arial"/>
              </a:rPr>
              <a:t>=</a:t>
            </a:r>
            <a:r>
              <a:rPr sz="1000" spc="17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Arial"/>
                <a:cs typeface="Arial"/>
              </a:rPr>
              <a:t>0,</a:t>
            </a:r>
            <a:r>
              <a:rPr sz="1000" spc="18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1D283B"/>
                </a:solidFill>
                <a:latin typeface="Arial"/>
                <a:cs typeface="Arial"/>
              </a:rPr>
              <a:t>час</a:t>
            </a:r>
            <a:r>
              <a:rPr sz="1000" spc="18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вичерпано,</a:t>
            </a:r>
            <a:r>
              <a:rPr sz="1000" spc="175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Arial"/>
                <a:cs typeface="Arial"/>
              </a:rPr>
              <a:t>впав</a:t>
            </a:r>
            <a:r>
              <a:rPr sz="1000" spc="180" dirty="0">
                <a:solidFill>
                  <a:srgbClr val="1D283B"/>
                </a:solidFill>
                <a:latin typeface="Arial"/>
                <a:cs typeface="Arial"/>
              </a:rPr>
              <a:t> </a:t>
            </a:r>
            <a:r>
              <a:rPr sz="1000" spc="30" dirty="0">
                <a:solidFill>
                  <a:srgbClr val="1D283B"/>
                </a:solidFill>
                <a:latin typeface="Arial"/>
                <a:cs typeface="Arial"/>
              </a:rPr>
              <a:t>зі </a:t>
            </a:r>
            <a:r>
              <a:rPr sz="1000" spc="55" dirty="0">
                <a:solidFill>
                  <a:srgbClr val="1D283B"/>
                </a:solidFill>
                <a:latin typeface="Arial"/>
                <a:cs typeface="Arial"/>
              </a:rPr>
              <a:t>світу)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70000" y="8288000"/>
            <a:ext cx="4680585" cy="457200"/>
            <a:chOff x="2070000" y="8288000"/>
            <a:chExt cx="4680585" cy="457200"/>
          </a:xfrm>
        </p:grpSpPr>
        <p:sp>
          <p:nvSpPr>
            <p:cNvPr id="21" name="object 21"/>
            <p:cNvSpPr/>
            <p:nvPr/>
          </p:nvSpPr>
          <p:spPr>
            <a:xfrm>
              <a:off x="2070000" y="8288000"/>
              <a:ext cx="4680585" cy="457200"/>
            </a:xfrm>
            <a:custGeom>
              <a:avLst/>
              <a:gdLst/>
              <a:ahLst/>
              <a:cxnLst/>
              <a:rect l="l" t="t" r="r" b="b"/>
              <a:pathLst>
                <a:path w="4680584" h="457200">
                  <a:moveTo>
                    <a:pt x="4679999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4679999" y="457199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ru-RU" dirty="0" err="1" smtClean="0"/>
                <a:t>Якщо</a:t>
              </a:r>
              <a:r>
                <a:rPr lang="ru-RU" dirty="0" smtClean="0"/>
                <a:t> </a:t>
              </a:r>
              <a:r>
                <a:rPr lang="ru-RU" dirty="0" err="1" smtClean="0"/>
                <a:t>гравець</a:t>
              </a:r>
              <a:r>
                <a:rPr lang="ru-RU" dirty="0" smtClean="0"/>
                <a:t> не </a:t>
              </a:r>
              <a:r>
                <a:rPr lang="ru-RU" dirty="0" err="1" smtClean="0"/>
                <a:t>встигає</a:t>
              </a:r>
              <a:r>
                <a:rPr lang="ru-RU" dirty="0" smtClean="0"/>
                <a:t> </a:t>
              </a:r>
              <a:r>
                <a:rPr lang="ru-RU" dirty="0" err="1" smtClean="0"/>
                <a:t>забрати</a:t>
              </a:r>
              <a:r>
                <a:rPr lang="ru-RU" dirty="0" smtClean="0"/>
                <a:t> 5 </a:t>
              </a:r>
              <a:r>
                <a:rPr lang="ru-RU" dirty="0" err="1" smtClean="0"/>
                <a:t>яблук</a:t>
              </a:r>
              <a:r>
                <a:rPr lang="ru-RU" dirty="0" smtClean="0"/>
                <a:t> до купи за </a:t>
              </a:r>
              <a:r>
                <a:rPr lang="ru-RU" dirty="0" err="1" smtClean="0"/>
                <a:t>певний</a:t>
              </a:r>
              <a:r>
                <a:rPr lang="ru-RU" dirty="0" smtClean="0"/>
                <a:t> час</a:t>
              </a:r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146200" y="8516727"/>
              <a:ext cx="4508500" cy="152400"/>
            </a:xfrm>
            <a:custGeom>
              <a:avLst/>
              <a:gdLst/>
              <a:ahLst/>
              <a:cxnLst/>
              <a:rect l="l" t="t" r="r" b="b"/>
              <a:pathLst>
                <a:path w="4508500" h="152400">
                  <a:moveTo>
                    <a:pt x="0" y="0"/>
                  </a:moveTo>
                  <a:lnTo>
                    <a:pt x="4508500" y="0"/>
                  </a:lnTo>
                </a:path>
                <a:path w="4508500" h="152400">
                  <a:moveTo>
                    <a:pt x="0" y="152400"/>
                  </a:moveTo>
                  <a:lnTo>
                    <a:pt x="571500" y="15240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796199" y="8948400"/>
            <a:ext cx="5967730" cy="0"/>
          </a:xfrm>
          <a:custGeom>
            <a:avLst/>
            <a:gdLst/>
            <a:ahLst/>
            <a:cxnLst/>
            <a:rect l="l" t="t" r="r" b="b"/>
            <a:pathLst>
              <a:path w="5967730">
                <a:moveTo>
                  <a:pt x="0" y="0"/>
                </a:moveTo>
                <a:lnTo>
                  <a:pt x="5967600" y="0"/>
                </a:lnTo>
              </a:path>
            </a:pathLst>
          </a:custGeom>
          <a:ln w="12700">
            <a:solidFill>
              <a:srgbClr val="6474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441067" y="9037300"/>
            <a:ext cx="26784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4748A"/>
                </a:solidFill>
                <a:latin typeface="Arial"/>
                <a:cs typeface="Arial"/>
              </a:rPr>
              <a:t>Kodu</a:t>
            </a:r>
            <a:r>
              <a:rPr sz="800" spc="10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4748A"/>
                </a:solidFill>
                <a:latin typeface="Arial"/>
                <a:cs typeface="Arial"/>
              </a:rPr>
              <a:t>Game</a:t>
            </a:r>
            <a:r>
              <a:rPr sz="800" spc="10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4748A"/>
                </a:solidFill>
                <a:latin typeface="Arial"/>
                <a:cs typeface="Arial"/>
              </a:rPr>
              <a:t>Lab</a:t>
            </a:r>
            <a:r>
              <a:rPr sz="800" spc="105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4748A"/>
                </a:solidFill>
                <a:latin typeface="Arial"/>
                <a:cs typeface="Arial"/>
              </a:rPr>
              <a:t>—</a:t>
            </a:r>
            <a:r>
              <a:rPr sz="800" spc="10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64748A"/>
                </a:solidFill>
                <a:latin typeface="Arial"/>
                <a:cs typeface="Arial"/>
              </a:rPr>
              <a:t>Шаблон</a:t>
            </a:r>
            <a:r>
              <a:rPr sz="800" spc="105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spc="65" dirty="0">
                <a:solidFill>
                  <a:srgbClr val="64748A"/>
                </a:solidFill>
                <a:latin typeface="Arial"/>
                <a:cs typeface="Arial"/>
              </a:rPr>
              <a:t>дизайн-документа</a:t>
            </a:r>
            <a:r>
              <a:rPr sz="800" spc="100" dirty="0">
                <a:solidFill>
                  <a:srgbClr val="64748A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64748A"/>
                </a:solidFill>
                <a:latin typeface="Arial"/>
                <a:cs typeface="Arial"/>
              </a:rPr>
              <a:t>гри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339</Words>
  <Application>Microsoft Office PowerPoint</Application>
  <PresentationFormat>Произвольный</PresentationFormat>
  <Paragraphs>84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Calibri</vt:lpstr>
      <vt:lpstr>Segoe UI Emoji</vt:lpstr>
      <vt:lpstr>Times New Roman</vt:lpstr>
      <vt:lpstr>Trebuchet MS</vt:lpstr>
      <vt:lpstr>Office Theme</vt:lpstr>
      <vt:lpstr>ДИЗАШаЙблНон-пДроєОктуКKoУduМGaЕmeНLaТb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Сергей Коломиец</cp:lastModifiedBy>
  <cp:revision>3</cp:revision>
  <dcterms:created xsi:type="dcterms:W3CDTF">2026-01-24T10:05:44Z</dcterms:created>
  <dcterms:modified xsi:type="dcterms:W3CDTF">2026-01-24T10:34:32Z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2026-01-24T00:00:00Z</vt:filetime>
  </property>
  <property fmtid="{D5CDD505-2E9C-101B-9397-08002B2CF9AE}" pid="5" name="Producer">
    <vt:lpwstr>ReportLab PDF Library - www.reportlab.com</vt:lpwstr>
  </property>
</Properties>
</file>